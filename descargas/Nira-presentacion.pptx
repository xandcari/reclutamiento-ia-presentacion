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C9E86B"/>
                </a:solidFill>
              </a:rPr>
              <a:t>Nira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120640" cy="384048"/>
          </a:xfrm>
          <a:prstGeom prst="roundRect">
            <a:avLst/>
          </a:prstGeom>
          <a:solidFill>
            <a:srgbClr val="C9E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0F2540"/>
                </a:solidFill>
              </a:rPr>
              <a:t>PRESENTACIÓN INTERACTIVA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Agilidad, inteligencia, cercanía y eficiencia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79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Plataforma de reclutamiento con chatbot para consultoras de RR. HH., reclutadores y PyMEs. La IA asiste; las decisiones son de personas.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807 pruebas automáticas que pasan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4 grupos de evaluación, con color y con texto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3 roles con permisos separados: admin, reclutador y empresa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0 mensajes reales enviados: todo corre en un canal de prueba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Pantallas de ejemplo con datos ficticios. Cada cuadro dice si funciona hoy o si es hoja de ruta.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EBDD3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0F2540"/>
                </a:solidFill>
              </a:rPr>
              <a:t>El desafío de reclutar a mano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A5A74"/>
                </a:solidFill>
              </a:rPr>
              <a:t>Un embudo que consume el tiempo de quien selecciona.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1088136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Caos de postulaciones masivas</a:t>
            </a:r>
            <a:r>
              <a:rPr sz="1800">
                <a:solidFill>
                  <a:srgbClr val="0F2540"/>
                </a:solidFill>
              </a:rPr>
              <a:t> — Cientos de CV y mensajes por correo, LinkedIn y portales. No hay tiempo de responder a todos.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Filtro manual exhaustivo</a:t>
            </a:r>
            <a:r>
              <a:rPr sz="1800">
                <a:solidFill>
                  <a:srgbClr val="0F2540"/>
                </a:solidFill>
              </a:rPr>
              <a:t> — Horas leyendo CV y escribiendo mensajes para validar lo básico: zona, disponibilidad, pretensión.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Entrevistas con perfiles que no ajustan</a:t>
            </a:r>
            <a:r>
              <a:rPr sz="1800">
                <a:solidFill>
                  <a:srgbClr val="0F2540"/>
                </a:solidFill>
              </a:rPr>
              <a:t> — Personas que no cumplen los requisitos y una entrevista perdida para ambas partes.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5A74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0F2540"/>
                </a:solidFill>
              </a:rPr>
              <a:t>De la postulación a la entrevista en seis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A5A74"/>
                </a:solidFill>
              </a:rPr>
              <a:t>Hacé zoom en cada etapa a lo largo del recorrido.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1088136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1 · Enlace o QR [Funciona hoy]</a:t>
            </a:r>
            <a:r>
              <a:rPr sz="1800">
                <a:solidFill>
                  <a:srgbClr val="0F2540"/>
                </a:solidFill>
              </a:rPr>
              <a:t> — Creás la búsqueda desde una plantilla y obtenés un enlace único o un QR para tu aviso.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2 · Chatbot [Hoy, con salvedades]</a:t>
            </a:r>
            <a:r>
              <a:rPr sz="1800">
                <a:solidFill>
                  <a:srgbClr val="0F2540"/>
                </a:solidFill>
              </a:rPr>
              <a:t> — La persona se postula conversando, una pregunta por vez y con su consentimiento.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3 · Filtrado [Funciona hoy]</a:t>
            </a:r>
            <a:r>
              <a:rPr sz="1800">
                <a:solidFill>
                  <a:srgbClr val="0F2540"/>
                </a:solidFill>
              </a:rPr>
              <a:t> — Nira pregunta lo clave (zona, disponibilidad, experiencia, pretensión) y lee el CV si es un PDF con texto.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4 · Ranking explicable [Funciona hoy]</a:t>
            </a:r>
            <a:r>
              <a:rPr sz="1800">
                <a:solidFill>
                  <a:srgbClr val="0F2540"/>
                </a:solidFill>
              </a:rPr>
              <a:t> — Un Top de candidatos ordenado por grupo y puntaje, con la evidencia de cada criterio.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5 · Agenda [Hoy, con salvedades]</a:t>
            </a:r>
            <a:r>
              <a:rPr sz="1800">
                <a:solidFill>
                  <a:srgbClr val="0F2540"/>
                </a:solidFill>
              </a:rPr>
              <a:t> — A quienes invitás, Nira les ofrece turnos y coordina la entrevista, sin dobles reservas.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6 · Entrevista humana [Funciona hoy]</a:t>
            </a:r>
            <a:r>
              <a:rPr sz="1800">
                <a:solidFill>
                  <a:srgbClr val="0F2540"/>
                </a:solidFill>
              </a:rPr>
              <a:t> — Una persona entrevista a los finalistas y toma la decisión final.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Salvedades: la conversación corre hoy en un canal de prueba (WhatsApp real y chat web todavía no), y los turnos son propios de Nira (la integración con Google Calendar u Outlook todavía no está).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5A74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0F2540"/>
                </a:solidFill>
              </a:rPr>
              <a:t>Una búsqueda lista en minutos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120640" cy="384048"/>
          </a:xfrm>
          <a:prstGeom prst="roundRect">
            <a:avLst/>
          </a:prstGeom>
          <a:solidFill>
            <a:srgbClr val="D5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0B4F4D"/>
                </a:solidFill>
              </a:rPr>
              <a:t>FUNCIONA HOY · PANEL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A5A74"/>
                </a:solidFill>
              </a:rPr>
              <a:t>Elegís el tipo de puesto, completás el título y la zona, y obtenés requisitos estándar, un enlace único y un QR para tu aviso.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79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Plantillas</a:t>
            </a:r>
            <a:r>
              <a:rPr sz="1800">
                <a:solidFill>
                  <a:srgbClr val="0F2540"/>
                </a:solidFill>
              </a:rPr>
              <a:t> — Ventas y atención comercial, Administración, Operativo, Gastronomía y atención de salón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Nueva búsqueda desde una plantilla</a:t>
            </a:r>
            <a:r>
              <a:rPr sz="1800">
                <a:solidFill>
                  <a:srgbClr val="0F2540"/>
                </a:solidFill>
              </a:rPr>
              <a:t> — 7 requisitos ya cargados: zona, jornada, experiencia, competencias y pretensión salarial (sin puntos).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Enlace y QR</a:t>
            </a:r>
            <a:r>
              <a:rPr sz="1800">
                <a:solidFill>
                  <a:srgbClr val="0F2540"/>
                </a:solidFill>
              </a:rPr>
              <a:t> — Publicar y abrir · Crear enlace y QR · Copiar enlace (el QR de las pantallas es ilustrativo)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5A74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0F2540"/>
                </a:solidFill>
              </a:rPr>
              <a:t>El chatbot que atiende a toda hora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120640" cy="384048"/>
          </a:xfrm>
          <a:prstGeom prst="roundRect">
            <a:avLst/>
          </a:prstGeom>
          <a:solidFill>
            <a:srgbClr val="D5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0B4F4D"/>
                </a:solidFill>
              </a:rPr>
              <a:t>FUNCIONA HOY EN EL CANAL DE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A5A74"/>
                </a:solidFill>
              </a:rPr>
              <a:t>La persona se postula conversando, una pregunta por vez y con su consentimiento.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79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Una pregunta por vez</a:t>
            </a:r>
            <a:r>
              <a:rPr sz="1800">
                <a:solidFill>
                  <a:srgbClr val="0F2540"/>
                </a:solidFill>
              </a:rPr>
              <a:t> — Y retoma donde quedó si la persona vuelve.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No inventa</a:t>
            </a:r>
            <a:r>
              <a:rPr sz="1800">
                <a:solidFill>
                  <a:srgbClr val="0F2540"/>
                </a:solidFill>
              </a:rPr>
              <a:t> — Si preguntan algo que no sabe, lo deja para la entrevista y vuelve a la pregunta pendiente.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Si el CV falla, la charla completa los datos</a:t>
            </a:r>
            <a:r>
              <a:rPr sz="1800">
                <a:solidFill>
                  <a:srgbClr val="0F2540"/>
                </a:solidFill>
              </a:rPr>
              <a:t> — Las preguntas del chat dejan registrado lo esencial.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Consentimiento primero</a:t>
            </a:r>
            <a:r>
              <a:rPr sz="1800">
                <a:solidFill>
                  <a:srgbClr val="0F2540"/>
                </a:solidFill>
              </a:rPr>
              <a:t> — Y BAJA cuando quiera: libera su turno y corta los mensajes.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Corre hoy en un canal de prueba. WhatsApp real y chat web son pendientes.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5A74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0F2540"/>
                </a:solidFill>
              </a:rPr>
              <a:t>El panel de quien 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A5A74"/>
                </a:solidFill>
              </a:rPr>
              <a:t>Cinco pantallas: acercate a cada una.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1088136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Ranking y Top 10 · Escala de colores · Tablero por estados · Agenda de entrevistas · 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5A74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0F2540"/>
                </a:solidFill>
              </a:rPr>
              <a:t>Ranking explicable, con Top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120640" cy="384048"/>
          </a:xfrm>
          <a:prstGeom prst="roundRect">
            <a:avLst/>
          </a:prstGeom>
          <a:solidFill>
            <a:srgbClr val="D5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0B4F4D"/>
                </a:solidFill>
              </a:rPr>
              <a:t>FUNCIONA HOY · PANEL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A5A74"/>
                </a:solidFill>
              </a:rPr>
              <a:t>Primero el grupo, después el puntaje: un puntaje alto nunca pone arriba a quien no cumple algo indispensable.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79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Disponibilidad de fin de semana</a:t>
            </a:r>
            <a:r>
              <a:rPr sz="1800">
                <a:solidFill>
                  <a:srgbClr val="0F2540"/>
                </a:solidFill>
              </a:rPr>
              <a:t> — Excluyente · lo dijo en el chat (Cumple)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Experiencia en ventas</a:t>
            </a:r>
            <a:r>
              <a:rPr sz="1800">
                <a:solidFill>
                  <a:srgbClr val="0F2540"/>
                </a:solidFill>
              </a:rPr>
              <a:t> — Del CV, confirmada por la persona (Cumple)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Inglés intermedio</a:t>
            </a:r>
            <a:r>
              <a:rPr sz="1800">
                <a:solidFill>
                  <a:srgbClr val="0F2540"/>
                </a:solidFill>
              </a:rPr>
              <a:t> — Declaró un nivel algo menor (Parcial)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Manejo de CRM</a:t>
            </a:r>
            <a:r>
              <a:rPr sz="1800">
                <a:solidFill>
                  <a:srgbClr val="0F2540"/>
                </a:solidFill>
              </a:rPr>
              <a:t> — Declarado: falta verificar (Verificar)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Acciones: Invitar a entrevista · Preseleccionar · Descartar · Solo el Top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5A74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0F2540"/>
                </a:solidFill>
              </a:rPr>
              <a:t>Una escala de colores amigable para RR. HH.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120640" cy="384048"/>
          </a:xfrm>
          <a:prstGeom prst="roundRect">
            <a:avLst/>
          </a:prstGeom>
          <a:solidFill>
            <a:srgbClr val="D5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0B4F4D"/>
                </a:solidFill>
              </a:rPr>
              <a:t>FUNCIONA HOY · PANEL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A5A74"/>
                </a:solidFill>
              </a:rPr>
              <a:t>Cuatro grupos distinguibles por tono, por luminosidad y siempre por texto.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79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Cumple los mínimos</a:t>
            </a:r>
            <a:r>
              <a:rPr sz="1800">
                <a:solidFill>
                  <a:srgbClr val="0F2540"/>
                </a:solidFill>
              </a:rPr>
              <a:t> — Verde azulado: listo para entrevistar.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Revisión manual</a:t>
            </a:r>
            <a:r>
              <a:rPr sz="1800">
                <a:solidFill>
                  <a:srgbClr val="0F2540"/>
                </a:solidFill>
              </a:rPr>
              <a:t> — Azul: hay un dato que una persona debe mirar.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Falta información</a:t>
            </a:r>
            <a:r>
              <a:rPr sz="1800">
                <a:solidFill>
                  <a:srgbClr val="0F2540"/>
                </a:solidFill>
              </a:rPr>
              <a:t> — Ámbar: se le puede pedir a la persona.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No cumple un excluyente</a:t>
            </a:r>
            <a:r>
              <a:rPr sz="1800">
                <a:solidFill>
                  <a:srgbClr val="0F2540"/>
                </a:solidFill>
              </a:rPr>
              <a:t> — Coral suave, no rojo alarma: se explica con respeto.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El color acompaña al texto, nunca lo reemplaza: cada grupo dice su nombre.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Sin semáforo rojo y verde: los grupos se distinguen por tono y por luminosidad.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El color no decide: ningún grupo descarta a nadie solo.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5A74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0F2540"/>
                </a:solidFill>
              </a:rPr>
              <a:t>Cada persona, en la columna de su etapa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120640" cy="384048"/>
          </a:xfrm>
          <a:prstGeom prst="roundRect">
            <a:avLst/>
          </a:prstGeom>
          <a:solidFill>
            <a:srgbClr val="D5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0B4F4D"/>
                </a:solidFill>
              </a:rPr>
              <a:t>FUNCIONA HOY · PANEL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A5A74"/>
                </a:solidFill>
              </a:rPr>
              <a:t>Se calcula de lo ya registrado (decisión, invitación, turno y asistencia): no se mueve a mano ni queda desactualizado.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79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Columnas: Postuladas · En espera · Preseleccionadas · Invitadas · Entrevista agendada · Entrevistadas · Descartadas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5A74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0F2540"/>
                </a:solidFill>
              </a:rPr>
              <a:t>Turnos sin dobles reservas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120640" cy="384048"/>
          </a:xfrm>
          <a:prstGeom prst="roundRect">
            <a:avLst/>
          </a:prstGeom>
          <a:solidFill>
            <a:srgbClr val="D5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0B4F4D"/>
                </a:solidFill>
              </a:rPr>
              <a:t>FUNCIONA HOY EN EL CANAL DE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A5A74"/>
                </a:solidFill>
              </a:rPr>
              <a:t>Individuales o grupales; la persona elige por el chat, confirma y recibe recordatorio. Lo garantiza la base de 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79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vie 23/10 10:00</a:t>
            </a:r>
            <a:r>
              <a:rPr sz="1800">
                <a:solidFill>
                  <a:srgbClr val="0F2540"/>
                </a:solidFill>
              </a:rPr>
              <a:t> — 1 de 1 lugares ocupados · individual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vie 23/10 10:30</a:t>
            </a:r>
            <a:r>
              <a:rPr sz="1800">
                <a:solidFill>
                  <a:srgbClr val="0F2540"/>
                </a:solidFill>
              </a:rPr>
              <a:t> — 0 de 1 lugares ocupados · individual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sáb 24/10 10:00</a:t>
            </a:r>
            <a:r>
              <a:rPr sz="1800">
                <a:solidFill>
                  <a:srgbClr val="0F2540"/>
                </a:solidFill>
              </a:rPr>
              <a:t> — 2 de 3 lugares ocupados · grupal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Hoy los turnos son propios de Nira. Google Calendar y Outlook son pendientes.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5A74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0F2540"/>
                </a:solidFill>
              </a:rPr>
              <a:t>Métricas reales, no promesas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120640" cy="384048"/>
          </a:xfrm>
          <a:prstGeom prst="roundRect">
            <a:avLst/>
          </a:prstGeom>
          <a:solidFill>
            <a:srgbClr val="D5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0B4F4D"/>
                </a:solidFill>
              </a:rPr>
              <a:t>FUNCIONA HOY · PANEL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A5A74"/>
                </a:solidFill>
              </a:rPr>
              <a:t>Conteos y proporciones de lo que hay en el sistema. No miden ahorro de tiempo: eso se mide en un piloto, contra cómo se trabajaba antes.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79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42 postulaciones confirmadas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57 conversaciones iniciadas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74 % terminan su postulación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88 % asisten a la entrevista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Embudo: Postuladas 42 → Cumplen los mínimos 27 → Invitadas a entrevista 12 → Con turno elegido 9 → Entrevistadas 8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Cifras de ejemplo.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5A74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0F2540"/>
                </a:solidFill>
              </a:rPr>
              <a:t>Lo que ve la empresa cliente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120640" cy="384048"/>
          </a:xfrm>
          <a:prstGeom prst="roundRect">
            <a:avLst/>
          </a:prstGeom>
          <a:solidFill>
            <a:srgbClr val="D5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0B4F4D"/>
                </a:solidFill>
              </a:rPr>
              <a:t>FUNCIONA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A5A74"/>
                </a:solidFill>
              </a:rPr>
              <a:t>Anónimo por defecto. Nombre, contacto y CV solo si el equipo lo habilita y la persona lo autorizó, y se revisa en cada consulta.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79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Candidato A</a:t>
            </a:r>
            <a:r>
              <a:rPr sz="1800">
                <a:solidFill>
                  <a:srgbClr val="0F2540"/>
                </a:solidFill>
              </a:rPr>
              <a:t> — Puntaje 82–91 · confianza alta. Experiencia de 2 años, confirmada por la persona.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Candidato B</a:t>
            </a:r>
            <a:r>
              <a:rPr sz="1800">
                <a:solidFill>
                  <a:srgbClr val="0F2540"/>
                </a:solidFill>
              </a:rPr>
              <a:t> — Puntaje 55–90 · confianza baja. Falta verificar una certificación.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Sin chat ni textos libres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Si la persona escribe BAJA, sus datos dejan de verse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Imprimible como 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5A74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0F2540"/>
                </a:solidFill>
              </a:rPr>
              <a:t>Pensado para datos de personas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120640" cy="384048"/>
          </a:xfrm>
          <a:prstGeom prst="roundRect">
            <a:avLst/>
          </a:prstGeom>
          <a:solidFill>
            <a:srgbClr val="D5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0B4F4D"/>
                </a:solidFill>
              </a:rPr>
              <a:t>FUNCIONA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A5A74"/>
                </a:solidFill>
              </a:rPr>
              <a:t>Los textos de consentimiento son un borrador: falta la revisión legal (Ley 25.326) antes de operar con personas reales.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79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Cada empresa, aislada</a:t>
            </a:r>
            <a:r>
              <a:rPr sz="1800">
                <a:solidFill>
                  <a:srgbClr val="0F2540"/>
                </a:solidFill>
              </a:rPr>
              <a:t> — Un cliente nunca ve datos de otro.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Consentimiento por finalidad</a:t>
            </a:r>
            <a:r>
              <a:rPr sz="1800">
                <a:solidFill>
                  <a:srgbClr val="0F2540"/>
                </a:solidFill>
              </a:rPr>
              <a:t> — Guardar datos, analizar con IA y compartir con la empresa se autorizan por separado.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Archivos privados y cifrados</a:t>
            </a:r>
            <a:r>
              <a:rPr sz="1800">
                <a:solidFill>
                  <a:srgbClr val="0F2540"/>
                </a:solidFill>
              </a:rPr>
              <a:t> — Los CV y los teléfonos no se publican.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Auditoría de punta a punta</a:t>
            </a:r>
            <a:r>
              <a:rPr sz="1800">
                <a:solidFill>
                  <a:srgbClr val="0F2540"/>
                </a:solidFill>
              </a:rPr>
              <a:t> — Quién hizo qué, sin datos personales en el registro.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5A74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0F2540"/>
                </a:solidFill>
              </a:rPr>
              <a:t>IA y video, con límites claros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120640" cy="384048"/>
          </a:xfrm>
          <a:prstGeom prst="roundRect">
            <a:avLst/>
          </a:prstGeom>
          <a:solidFill>
            <a:srgbClr val="D5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0B4F4D"/>
                </a:solidFill>
              </a:rPr>
              <a:t>HOJA DE RUTA · TODAVÍA NO EXISTE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A5A74"/>
                </a:solidFill>
              </a:rPr>
              <a:t>Nira es un asistente: ordena y explica; las decisiones son de personas.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79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Lee cualquier CV</a:t>
            </a:r>
            <a:r>
              <a:rPr sz="1800">
                <a:solidFill>
                  <a:srgbClr val="0F2540"/>
                </a:solidFill>
              </a:rPr>
              <a:t> — Fotos y PDF escaneados; la persona confirma cada dato.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Resume y explica</a:t>
            </a:r>
            <a:r>
              <a:rPr sz="1800">
                <a:solidFill>
                  <a:srgbClr val="0F2540"/>
                </a:solidFill>
              </a:rPr>
              <a:t> — Por qué quedó en cada grupo, sin cambiar el puntaje.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Prepara la entrevista</a:t>
            </a:r>
            <a:r>
              <a:rPr sz="1800">
                <a:solidFill>
                  <a:srgbClr val="0F2540"/>
                </a:solidFill>
              </a:rPr>
              <a:t> — Preguntas para verificar lo pendiente.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Video de presentación</a:t>
            </a:r>
            <a:r>
              <a:rPr sz="1800">
                <a:solidFill>
                  <a:srgbClr val="0F2540"/>
                </a:solidFill>
              </a:rPr>
              <a:t> — Hasta 3 preguntas de 45 segundos; Hasta 3 intentos, con revisión antes de enviar; Siempre con alternativa escrita; Se evalúa solo el contenido: nunca rostro, voz ni acento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2540"/>
                </a:solidFill>
              </a:rPr>
              <a:t>El puntaje lo calculan reglas deterministas, nunca un modelo de lenguaje.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5A74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0F2540"/>
                </a:solidFill>
              </a:rPr>
              <a:t>Por módulos, empezando por la preselección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A5A74"/>
                </a:solidFill>
              </a:rPr>
              <a:t>Sin fechas comprometidas: dependen de las credenciales de WhatsApp, del proveedor de IA y de lo que muestre el piloto.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1088136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Módulo 1 · Preselección [Hoy]</a:t>
            </a:r>
            <a:r>
              <a:rPr sz="1800">
                <a:solidFill>
                  <a:srgbClr val="0F2540"/>
                </a:solidFill>
              </a:rPr>
              <a:t> — Plantillas, chatbot, ranking, tablero, métricas, informe y agenda. Falta: WhatsApp real, chat web y lectura de imágenes.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Módulo 2 · Video [Siguiente]</a:t>
            </a:r>
            <a:r>
              <a:rPr sz="1800">
                <a:solidFill>
                  <a:srgbClr val="0F2540"/>
                </a:solidFill>
              </a:rPr>
              <a:t> — Video de 3 preguntas, con alternativa escrita y transcripción con consentimiento.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Escala [Más adelante]</a:t>
            </a:r>
            <a:r>
              <a:rPr sz="1800">
                <a:solidFill>
                  <a:srgbClr val="0F2540"/>
                </a:solidFill>
              </a:rPr>
              <a:t> — Google Calendar y Outlook, cobro por suscripción con débito automático y analítica.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5A74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0F2540"/>
                </a:solidFill>
              </a:rPr>
              <a:t>Suscripción mensual, cobro por adelantado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120640" cy="384048"/>
          </a:xfrm>
          <a:prstGeom prst="roundRect">
            <a:avLst/>
          </a:prstGeom>
          <a:solidFill>
            <a:srgbClr val="D5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0B4F4D"/>
                </a:solidFill>
              </a:rPr>
              <a:t>BORRADOR A DEFINIR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A5A74"/>
                </a:solidFill>
              </a:rPr>
              <a:t>Borrador a definir con los primeros clientes. Los valores salen de los costos reales de WhatsApp, IA y almacenamiento.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79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Piloto [USD __ / mes]</a:t>
            </a:r>
            <a:r>
              <a:rPr sz="1800">
                <a:solidFill>
                  <a:srgbClr val="0F2540"/>
                </a:solidFill>
              </a:rPr>
              <a:t> — Una búsqueda de prueba sin costo (propuesta) para ver el ranking con datos reales.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Equipo [USD __ / mes]</a:t>
            </a:r>
            <a:r>
              <a:rPr sz="1800">
                <a:solidFill>
                  <a:srgbClr val="0F2540"/>
                </a:solidFill>
              </a:rPr>
              <a:t> — Más búsquedas, tablero, métricas, informes y agenda.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0F2540"/>
                </a:solidFill>
              </a:rPr>
              <a:t>Consultora [USD __ / mes]</a:t>
            </a:r>
            <a:r>
              <a:rPr sz="1800">
                <a:solidFill>
                  <a:srgbClr val="0F2540"/>
                </a:solidFill>
              </a:rPr>
              <a:t> — Varias empresas clientes con su identidad visual, video y analítica.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5A74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C9E86B"/>
                </a:solidFill>
              </a:rPr>
              <a:t>Probemos Nira con una búsqueda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Una búsqueda de tu consultora o PyME, WhatsApp conectado y textos legales revisados. Después medimos el ahorro de tiempo con datos propios.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1088136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contacto@ejemplo.com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EBDD3"/>
                </a:solidFill>
              </a:rPr>
              <a:t>Nira · datos ficticios de ejemplo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